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26280" cy="6858000"/>
          </a:xfrm>
          <a:prstGeom prst="rect">
            <a:avLst/>
          </a:prstGeom>
          <a:solidFill>
            <a:srgbClr val="730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3154680" y="4114800"/>
            <a:ext cx="68580" cy="68580"/>
          </a:xfrm>
          <a:prstGeom prst="diamond">
            <a:avLst/>
          </a:prstGeom>
          <a:solidFill>
            <a:srgbClr val="C41E3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3465576" y="4114800"/>
            <a:ext cx="68580" cy="68580"/>
          </a:xfrm>
          <a:prstGeom prst="diamond">
            <a:avLst/>
          </a:prstGeom>
          <a:solidFill>
            <a:srgbClr val="C41E3A">
              <a:alpha val="2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3776472" y="4114800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087368" y="4114800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3310128" y="4270248"/>
            <a:ext cx="68580" cy="68580"/>
          </a:xfrm>
          <a:prstGeom prst="diamond">
            <a:avLst/>
          </a:prstGeom>
          <a:solidFill>
            <a:srgbClr val="C41E3A">
              <a:alpha val="2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3621024" y="4270248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3931920" y="4270248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4242816" y="4270248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iamond 10"/>
          <p:cNvSpPr/>
          <p:nvPr/>
        </p:nvSpPr>
        <p:spPr>
          <a:xfrm>
            <a:off x="3154680" y="4425696"/>
            <a:ext cx="68580" cy="68580"/>
          </a:xfrm>
          <a:prstGeom prst="diamond">
            <a:avLst/>
          </a:prstGeom>
          <a:solidFill>
            <a:srgbClr val="C41E3A">
              <a:alpha val="2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3465576" y="4425696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3776472" y="4425696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4087368" y="4425696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3310128" y="4581144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3621024" y="4581144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3931920" y="4581144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4242816" y="4581144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3154680" y="4736592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465576" y="4736592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776472" y="4736592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4087368" y="4736592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3310128" y="4892040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3621024" y="4892040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3931920" y="4892040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4242816" y="489204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154680" y="5047488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465576" y="5047488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3776472" y="5047488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087368" y="5047488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3310128" y="5202936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3621024" y="5202936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3931920" y="5202936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4242816" y="5202936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3154680" y="5358384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3465576" y="5358384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3776472" y="5358384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4087368" y="5358384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3310128" y="5513832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3621024" y="5513832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3931920" y="5513832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4242816" y="5513832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3154680" y="5669280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3465576" y="566928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3776472" y="566928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4087368" y="566928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iamond 46"/>
          <p:cNvSpPr/>
          <p:nvPr/>
        </p:nvSpPr>
        <p:spPr>
          <a:xfrm>
            <a:off x="3310128" y="5824728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3621024" y="5824728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iamond 48"/>
          <p:cNvSpPr/>
          <p:nvPr/>
        </p:nvSpPr>
        <p:spPr>
          <a:xfrm>
            <a:off x="3931920" y="5824728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iamond 49"/>
          <p:cNvSpPr/>
          <p:nvPr/>
        </p:nvSpPr>
        <p:spPr>
          <a:xfrm>
            <a:off x="4242816" y="5824728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26280" y="0"/>
            <a:ext cx="50292" cy="685800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6692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E8A6B2"/>
                </a:solidFill>
                <a:latin typeface="Arial"/>
              </a:rPr>
              <a:t>CLIENT REVIEW  ·  AUGUST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960120"/>
            <a:ext cx="36576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TRANSACTION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MONITORING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&amp; ALERTS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2697480"/>
            <a:ext cx="1371600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2926080"/>
            <a:ext cx="35204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2D6DB"/>
                </a:solidFill>
                <a:latin typeface="Arial"/>
              </a:rPr>
              <a:t>Catch the risky payment while it is still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2D6DB"/>
                </a:solidFill>
                <a:latin typeface="Arial"/>
              </a:rPr>
              <a:t>in flight — then give one operator a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2D6DB"/>
                </a:solidFill>
                <a:latin typeface="Arial"/>
              </a:rPr>
              <a:t>clear path to close it.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449884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D892A0"/>
                </a:solidFill>
                <a:latin typeface="Arial"/>
              </a:rPr>
              <a:t>PRESENTED BY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4718304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AGILE-ish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52852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D892A0"/>
                </a:solidFill>
                <a:latin typeface="Arial"/>
              </a:rPr>
              <a:t>TEAM MEMBERS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504688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Shreya  ·  Sathwik  ·  Rameez</a:t>
            </a:r>
          </a:p>
        </p:txBody>
      </p:sp>
      <p:pic>
        <p:nvPicPr>
          <p:cNvPr id="60" name="Picture 59" descr="hs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08192"/>
            <a:ext cx="1040384" cy="365760"/>
          </a:xfrm>
          <a:prstGeom prst="rect">
            <a:avLst/>
          </a:prstGeom>
        </p:spPr>
      </p:pic>
      <p:pic>
        <p:nvPicPr>
          <p:cNvPr id="61" name="Picture 60" descr="plaz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pic>
        <p:nvPicPr>
          <p:cNvPr id="62" name="Picture 61" descr="how_we_l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8656" y="1874519"/>
            <a:ext cx="1859604" cy="16916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5074920" y="4160520"/>
            <a:ext cx="2606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41E3A"/>
                </a:solidFill>
                <a:latin typeface="Arial"/>
              </a:rPr>
              <a:t>THE OPERATOR LOOP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74920" y="4462272"/>
            <a:ext cx="68580" cy="14630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85232" y="4443984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81D"/>
                </a:solidFill>
                <a:latin typeface="Arial"/>
              </a:rPr>
              <a:t>Ingest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74920" y="4764024"/>
            <a:ext cx="68580" cy="14630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85232" y="474573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81D"/>
                </a:solidFill>
                <a:latin typeface="Arial"/>
              </a:rPr>
              <a:t>Evaluate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74920" y="5065776"/>
            <a:ext cx="68580" cy="14630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85232" y="504748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81D"/>
                </a:solidFill>
                <a:latin typeface="Arial"/>
              </a:rPr>
              <a:t>Alert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74920" y="5367528"/>
            <a:ext cx="68580" cy="146304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85232" y="534924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C8695"/>
                </a:solidFill>
                <a:latin typeface="Arial"/>
              </a:rPr>
              <a:t>Investigate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74920" y="5669280"/>
            <a:ext cx="68580" cy="146304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85232" y="5650992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C8695"/>
                </a:solidFill>
                <a:latin typeface="Arial"/>
              </a:rPr>
              <a:t>Close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023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41E3A"/>
                </a:solidFill>
                <a:latin typeface="Arial"/>
              </a:rPr>
              <a:t>THE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4181D"/>
                </a:solidFill>
                <a:latin typeface="Arial"/>
              </a:rPr>
              <a:t>Payments do not wait for a night-time batch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051560" cy="34747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C8695"/>
                </a:solidFill>
                <a:latin typeface="Arial"/>
              </a:rPr>
              <a:t>Banks and merchants push transactions continuously. Risk has to surface while the money is moving.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30014"/>
                </a:solidFill>
                <a:latin typeface="Arial"/>
              </a:rPr>
              <a:t>What makes it hard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3969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41E3A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157984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181D"/>
                </a:solidFill>
                <a:latin typeface="Arial"/>
              </a:rPr>
              <a:t>Volume never pauses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432303"/>
            <a:ext cx="4343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C8695"/>
                </a:solidFill>
                <a:latin typeface="Arial"/>
              </a:rPr>
              <a:t>Two simulated feeds plus a load harness can push hundreds of transactions a second into one 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6382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41E3A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182112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181D"/>
                </a:solidFill>
                <a:latin typeface="Arial"/>
              </a:rPr>
              <a:t>Manual triage does not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456432"/>
            <a:ext cx="4343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C8695"/>
                </a:solidFill>
                <a:latin typeface="Arial"/>
              </a:rPr>
              <a:t>Amount spikes are the easy case. Velocity bursts, first-time payees and creeping daily totals hide in the noise.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87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41E3A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206240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181D"/>
                </a:solidFill>
                <a:latin typeface="Arial"/>
              </a:rPr>
              <a:t>Detection alone is not an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480560"/>
            <a:ext cx="4343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C8695"/>
                </a:solidFill>
                <a:latin typeface="Arial"/>
              </a:rPr>
              <a:t>An operator needs one queue, one audit trail, and a status that cannot be skipped or reversed by accident.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55648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30014"/>
                </a:solidFill>
                <a:latin typeface="Arial"/>
              </a:rPr>
              <a:t>What we delivered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066543"/>
            <a:ext cx="5285232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81D"/>
                </a:solidFill>
                <a:latin typeface="Arial"/>
              </a:rPr>
              <a:t>One Spring Boot deployable and one operator dashboard: ingest, evaluate against four rules in the same request, then work the alert to a close.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798064"/>
            <a:ext cx="5285232" cy="731520"/>
          </a:xfrm>
          <a:prstGeom prst="roundRect">
            <a:avLst>
              <a:gd name="adj" fmla="val 7500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2798064"/>
            <a:ext cx="50292" cy="73152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292608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81D"/>
                </a:solidFill>
                <a:latin typeface="Arial"/>
              </a:rPr>
              <a:t>Four rules, live-configurable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318211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Thresholds are edited in the UI and stored in the database — no redeploy.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3621024"/>
            <a:ext cx="5285232" cy="731520"/>
          </a:xfrm>
          <a:prstGeom prst="roundRect">
            <a:avLst>
              <a:gd name="adj" fmla="val 7500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3621024"/>
            <a:ext cx="50292" cy="73152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3749039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81D"/>
                </a:solidFill>
                <a:latin typeface="Arial"/>
              </a:rPr>
              <a:t>Soft multi-source tenancy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40050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One schema; every row carries source_type, source_id and source_name.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443984"/>
            <a:ext cx="5285232" cy="731520"/>
          </a:xfrm>
          <a:prstGeom prst="roundRect">
            <a:avLst>
              <a:gd name="adj" fmla="val 7500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4443984"/>
            <a:ext cx="50292" cy="73152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5392" y="457200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81D"/>
                </a:solidFill>
                <a:latin typeface="Arial"/>
              </a:rPr>
              <a:t>Measured, not assumed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5392" y="48280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Three k6 passes, EXPLAIN on every hot query, timers on the engine itself.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58384"/>
            <a:ext cx="11094415" cy="868680"/>
          </a:xfrm>
          <a:prstGeom prst="roundRect">
            <a:avLst>
              <a:gd name="adj" fmla="val 6315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5504688"/>
            <a:ext cx="23164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730014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5907024"/>
            <a:ext cx="240784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C8695"/>
                </a:solidFill>
                <a:latin typeface="Arial"/>
              </a:rPr>
              <a:t>detection rules, all runtime-configurable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2243" y="5504688"/>
            <a:ext cx="7315" cy="576071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78275" y="5504688"/>
            <a:ext cx="23164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730014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8275" y="5907024"/>
            <a:ext cx="240784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C8695"/>
                </a:solidFill>
                <a:latin typeface="Arial"/>
              </a:rPr>
              <a:t>alert states with validated transitions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5847" y="5504688"/>
            <a:ext cx="7315" cy="576071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1879" y="5504688"/>
            <a:ext cx="23164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730014"/>
                </a:solidFill>
                <a:latin typeface="Arial"/>
              </a:rPr>
              <a:t>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1879" y="5907024"/>
            <a:ext cx="240784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C8695"/>
                </a:solidFill>
                <a:latin typeface="Arial"/>
              </a:rPr>
              <a:t>REST endpoints under /api/v1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69451" y="5504688"/>
            <a:ext cx="7315" cy="576071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25483" y="5504688"/>
            <a:ext cx="23164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730014"/>
                </a:solidFill>
                <a:latin typeface="Arial"/>
              </a:rPr>
              <a:t>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5483" y="5907024"/>
            <a:ext cx="240784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C8695"/>
                </a:solidFill>
                <a:latin typeface="Arial"/>
              </a:rPr>
              <a:t>unit tests across 17 classes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6391656"/>
            <a:ext cx="11094415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647395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AGILE-ish  ·  Transaction Monitoring &amp; Alerts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6473952"/>
            <a:ext cx="15819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023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41E3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4181D"/>
                </a:solidFill>
                <a:latin typeface="Arial"/>
              </a:rPr>
              <a:t>A modular monolith with one seam that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051560" cy="34747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C8695"/>
                </a:solidFill>
                <a:latin typeface="Arial"/>
              </a:rPr>
              <a:t>One deployable, clean package boundaries — and a rule engine kept behind an interface so it can leave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00784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30">
                <a:solidFill>
                  <a:srgbClr val="7C8695"/>
                </a:solidFill>
                <a:latin typeface="Arial"/>
              </a:rPr>
              <a:t>CLIENTS &amp; FEEDS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1965960" cy="86868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103120"/>
            <a:ext cx="167335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81D"/>
                </a:solidFill>
                <a:latin typeface="Arial"/>
              </a:rPr>
              <a:t>Operator 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350008"/>
            <a:ext cx="17099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Loads the dashboard,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drives the alert lifecycle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71800"/>
            <a:ext cx="1965960" cy="86868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3108960"/>
            <a:ext cx="167335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81D"/>
                </a:solidFill>
                <a:latin typeface="Arial"/>
              </a:rPr>
              <a:t>Feed simulators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355848"/>
            <a:ext cx="17099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Go service, scenario packs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POST /api/v1/transactions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77639"/>
            <a:ext cx="1965960" cy="86868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4114800"/>
            <a:ext cx="167335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81D"/>
                </a:solidFill>
                <a:latin typeface="Arial"/>
              </a:rPr>
              <a:t>k6 load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4361688"/>
            <a:ext cx="17099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Ramp, mixed and soak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profiles up to 200 VUs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8" y="1810512"/>
            <a:ext cx="5422392" cy="3127248"/>
          </a:xfrm>
          <a:prstGeom prst="roundRect">
            <a:avLst>
              <a:gd name="adj" fmla="val 1754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1920240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30">
                <a:solidFill>
                  <a:srgbClr val="730014"/>
                </a:solidFill>
                <a:latin typeface="Arial"/>
              </a:rPr>
              <a:t>APPLICATION VM  ·  DOCKER COMPOSE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2212848"/>
            <a:ext cx="5093207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81D"/>
                </a:solidFill>
                <a:latin typeface="Arial"/>
              </a:rPr>
              <a:t>nginx  +  React 19 SPA   ·   :8082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2944368"/>
            <a:ext cx="5093207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9312" y="30540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30">
                <a:solidFill>
                  <a:srgbClr val="730014"/>
                </a:solidFill>
                <a:latin typeface="Arial"/>
              </a:rPr>
              <a:t>SPRING BOOT 3.4.4  ·  JAVA 21  ·  :8081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39312" y="3328416"/>
            <a:ext cx="2281427" cy="566928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67328" y="3429000"/>
            <a:ext cx="202539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67328" y="3639312"/>
            <a:ext cx="20619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controllers + DTOs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1908" y="3328416"/>
            <a:ext cx="2281427" cy="566928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9924" y="3429000"/>
            <a:ext cx="202539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transaction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9924" y="3639312"/>
            <a:ext cx="20619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record, query, filters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39312" y="3986784"/>
            <a:ext cx="2281427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C4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67328" y="4087368"/>
            <a:ext cx="202539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41E3A"/>
                </a:solidFill>
                <a:latin typeface="Arial"/>
              </a:rPr>
              <a:t>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67328" y="4297680"/>
            <a:ext cx="20619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RuleEngine + 4 rules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1908" y="3986784"/>
            <a:ext cx="2281427" cy="566928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9924" y="4087368"/>
            <a:ext cx="202539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alert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9924" y="4297680"/>
            <a:ext cx="20619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lifecycle + transitions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9312" y="4590288"/>
            <a:ext cx="3561587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41E3A"/>
                </a:solidFill>
                <a:latin typeface="Arial"/>
              </a:rPr>
              <a:t>extractable later — same interface, new deployable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1700784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30">
                <a:solidFill>
                  <a:srgbClr val="7C8695"/>
                </a:solidFill>
                <a:latin typeface="Arial"/>
              </a:rPr>
              <a:t>DATA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80" y="1965960"/>
            <a:ext cx="2542032" cy="178308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44584" y="2103120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81D"/>
                </a:solidFill>
                <a:latin typeface="Arial"/>
              </a:rPr>
              <a:t>MySQL 8  ·  :3306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44584" y="2340864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reached over JPA + HikariCP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44584" y="2665476"/>
            <a:ext cx="54864" cy="5486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90888" y="261518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transactions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44584" y="2912364"/>
            <a:ext cx="54864" cy="5486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90888" y="286207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alerts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44584" y="3159252"/>
            <a:ext cx="54864" cy="5486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90888" y="310896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alert_transactions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44584" y="3406140"/>
            <a:ext cx="54864" cy="5486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90888" y="335584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rule_configs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98280" y="3886200"/>
            <a:ext cx="2542032" cy="1051560"/>
          </a:xfrm>
          <a:prstGeom prst="roundRect">
            <a:avLst>
              <a:gd name="adj" fmla="val 5217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44584" y="4023360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81D"/>
                </a:solidFill>
                <a:latin typeface="Arial"/>
              </a:rPr>
              <a:t>7 named indexes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4261104"/>
            <a:ext cx="226771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Account+time, account+payee and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source+time paths confirmed with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EXPLAIN before blaming the schema.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514600" y="2400300"/>
            <a:ext cx="923544" cy="68580"/>
          </a:xfrm>
          <a:prstGeom prst="line">
            <a:avLst/>
          </a:prstGeom>
          <a:ln w="15875">
            <a:solidFill>
              <a:srgbClr val="C41E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514600" y="3406140"/>
            <a:ext cx="923544" cy="0"/>
          </a:xfrm>
          <a:prstGeom prst="line">
            <a:avLst/>
          </a:prstGeom>
          <a:ln w="15875">
            <a:solidFill>
              <a:srgbClr val="C41E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514600" y="4411979"/>
            <a:ext cx="923544" cy="0"/>
          </a:xfrm>
          <a:prstGeom prst="line">
            <a:avLst/>
          </a:prstGeom>
          <a:ln w="15875">
            <a:solidFill>
              <a:srgbClr val="C41E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33088" y="2724912"/>
            <a:ext cx="0" cy="201168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242816" y="276148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C8695"/>
                </a:solidFill>
                <a:latin typeface="Arial"/>
              </a:rPr>
              <a:t>REST /api/v1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604504" y="3291840"/>
            <a:ext cx="530351" cy="0"/>
          </a:xfrm>
          <a:prstGeom prst="line">
            <a:avLst/>
          </a:prstGeom>
          <a:ln w="15875">
            <a:solidFill>
              <a:srgbClr val="C41E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48640" y="513892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41E3A"/>
                </a:solidFill>
                <a:latin typeface="Arial"/>
              </a:rPr>
              <a:t>SYNCHRONOUS DETECTION PATH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5394960"/>
            <a:ext cx="1970166" cy="475488"/>
          </a:xfrm>
          <a:prstGeom prst="roundRect">
            <a:avLst>
              <a:gd name="adj" fmla="val 11538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1   POST /transactions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573670" y="5632704"/>
            <a:ext cx="219456" cy="0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2829702" y="5394960"/>
            <a:ext cx="1970166" cy="475488"/>
          </a:xfrm>
          <a:prstGeom prst="roundRect">
            <a:avLst>
              <a:gd name="adj" fmla="val 11538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2   Persist transaction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854732" y="5632704"/>
            <a:ext cx="219456" cy="0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5110764" y="5394960"/>
            <a:ext cx="1970166" cy="475488"/>
          </a:xfrm>
          <a:prstGeom prst="roundRect">
            <a:avLst>
              <a:gd name="adj" fmla="val 11538"/>
            </a:avLst>
          </a:prstGeom>
          <a:solidFill>
            <a:srgbClr val="730014"/>
          </a:solidFill>
          <a:ln w="9525">
            <a:solidFill>
              <a:srgbClr val="7300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3   RuleEngine.evaluate()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135794" y="5632704"/>
            <a:ext cx="219456" cy="0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7391826" y="5394960"/>
            <a:ext cx="1970166" cy="475488"/>
          </a:xfrm>
          <a:prstGeom prst="roundRect">
            <a:avLst>
              <a:gd name="adj" fmla="val 11538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4   Create OPEN alert(s)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416856" y="5632704"/>
            <a:ext cx="219456" cy="0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9672888" y="5394960"/>
            <a:ext cx="1970166" cy="475488"/>
          </a:xfrm>
          <a:prstGeom prst="roundRect">
            <a:avLst>
              <a:gd name="adj" fmla="val 11538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5   201 Created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5998464"/>
            <a:ext cx="110944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Detection finishes before the API answers, so time-to-detect is bounded by the request itself. No queue in this path yet — that is the deliberate next change, not a rewrite.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6391656"/>
            <a:ext cx="11094415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647395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AGILE-ish  ·  Transaction Monitoring &amp; Alerts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6473952"/>
            <a:ext cx="15819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023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41E3A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4181D"/>
                </a:solidFill>
                <a:latin typeface="Arial"/>
              </a:rPr>
              <a:t>We pushed it until it hurt, then found out why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051560" cy="34747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C8695"/>
                </a:solidFill>
                <a:latin typeface="Arial"/>
              </a:rPr>
              <a:t>k6 from a Windows client against the Linux app VM — JVM and MySQL sharing roughly 2 vCPU and 3.7 GiB.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00784"/>
            <a:ext cx="3539642" cy="1298448"/>
          </a:xfrm>
          <a:prstGeom prst="roundRect">
            <a:avLst>
              <a:gd name="adj" fmla="val 4225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00784"/>
            <a:ext cx="3539642" cy="45720"/>
          </a:xfrm>
          <a:prstGeom prst="rect">
            <a:avLst/>
          </a:prstGeom>
          <a:solidFill>
            <a:srgbClr val="1B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65376"/>
            <a:ext cx="317388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spc="120">
                <a:solidFill>
                  <a:srgbClr val="7C8695"/>
                </a:solidFill>
                <a:latin typeface="Arial"/>
              </a:rPr>
              <a:t>PASS 1  ·  WRITE RAMP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84831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181D"/>
                </a:solidFill>
                <a:latin typeface="Arial"/>
              </a:rPr>
              <a:t>234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286000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requests/sec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51760"/>
            <a:ext cx="317388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200 VUs  ·  p95 763 ms  ·  0% failed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6026" y="1700784"/>
            <a:ext cx="3539642" cy="1298448"/>
          </a:xfrm>
          <a:prstGeom prst="roundRect">
            <a:avLst>
              <a:gd name="adj" fmla="val 4225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6026" y="1700784"/>
            <a:ext cx="3539642" cy="45720"/>
          </a:xfrm>
          <a:prstGeom prst="rect">
            <a:avLst/>
          </a:prstGeom>
          <a:solidFill>
            <a:srgbClr val="1B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5482" y="1865376"/>
            <a:ext cx="317388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spc="120">
                <a:solidFill>
                  <a:srgbClr val="7C8695"/>
                </a:solidFill>
                <a:latin typeface="Arial"/>
              </a:rPr>
              <a:t>PASS 2  ·  MIXED 80/20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5482" y="2084831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181D"/>
                </a:solidFill>
                <a:latin typeface="Arial"/>
              </a:rPr>
              <a:t>242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60466" y="2286000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requests/sec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5482" y="2651760"/>
            <a:ext cx="317388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150 VUs  ·  p95 623 ms  ·  0% failed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3412" y="1700784"/>
            <a:ext cx="3539642" cy="1298448"/>
          </a:xfrm>
          <a:prstGeom prst="roundRect">
            <a:avLst>
              <a:gd name="adj" fmla="val 4225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3412" y="1700784"/>
            <a:ext cx="3539642" cy="45720"/>
          </a:xfrm>
          <a:prstGeom prst="rect">
            <a:avLst/>
          </a:prstGeom>
          <a:solidFill>
            <a:srgbClr val="B059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2868" y="1865376"/>
            <a:ext cx="317388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spc="120">
                <a:solidFill>
                  <a:srgbClr val="7C8695"/>
                </a:solidFill>
                <a:latin typeface="Arial"/>
              </a:rPr>
              <a:t>PASS 3  ·  10-MINUTE SOAK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2868" y="2084831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181D"/>
                </a:solidFill>
                <a:latin typeface="Arial"/>
              </a:rPr>
              <a:t>214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7852" y="2286000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requests/sec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2868" y="2651760"/>
            <a:ext cx="317388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140 VUs  ·  p95 1.13 s  ·  0.09% failed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18688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30">
                <a:solidFill>
                  <a:srgbClr val="C41E3A"/>
                </a:solidFill>
                <a:latin typeface="Arial"/>
              </a:rPr>
              <a:t>p95 LATENCY BY PASS  (ms)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197050"/>
            <a:ext cx="868680" cy="941877"/>
          </a:xfrm>
          <a:prstGeom prst="rect">
            <a:avLst/>
          </a:prstGeom>
          <a:solidFill>
            <a:srgbClr val="730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199" y="3959306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763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199" y="520293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Pass 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38528" y="4369871"/>
            <a:ext cx="868680" cy="769056"/>
          </a:xfrm>
          <a:prstGeom prst="rect">
            <a:avLst/>
          </a:prstGeom>
          <a:solidFill>
            <a:srgbClr val="730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55648" y="4132127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623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5648" y="520293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Pass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6976" y="3744010"/>
            <a:ext cx="868680" cy="1394917"/>
          </a:xfrm>
          <a:prstGeom prst="rect">
            <a:avLst/>
          </a:prstGeom>
          <a:solidFill>
            <a:srgbClr val="B059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54096" y="3506266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1,130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54096" y="520293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Pass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138928"/>
            <a:ext cx="3977639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3218688"/>
            <a:ext cx="37490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30">
                <a:solidFill>
                  <a:srgbClr val="C41E3A"/>
                </a:solidFill>
                <a:latin typeface="Arial"/>
              </a:rPr>
              <a:t>rule.evaluate MEAN  (ms)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92040" y="4535815"/>
            <a:ext cx="621792" cy="603112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45736" y="4298071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45736" y="52029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C8695"/>
                </a:solidFill>
                <a:latin typeface="Arial"/>
              </a:rPr>
              <a:t>after 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24727" y="4578139"/>
            <a:ext cx="621792" cy="560788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78423" y="4340395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53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78423" y="52029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C8695"/>
                </a:solidFill>
                <a:latin typeface="Arial"/>
              </a:rPr>
              <a:t>after P2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57416" y="4176064"/>
            <a:ext cx="621792" cy="962863"/>
          </a:xfrm>
          <a:prstGeom prst="rect">
            <a:avLst/>
          </a:prstGeom>
          <a:solidFill>
            <a:srgbClr val="B059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11112" y="393832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52029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C8695"/>
                </a:solidFill>
                <a:latin typeface="Arial"/>
              </a:rPr>
              <a:t>mid soak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90104" y="3805732"/>
            <a:ext cx="621792" cy="1333195"/>
          </a:xfrm>
          <a:prstGeom prst="rect">
            <a:avLst/>
          </a:prstGeom>
          <a:solidFill>
            <a:srgbClr val="B059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43800" y="3567988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126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52029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C8695"/>
                </a:solidFill>
                <a:latin typeface="Arial"/>
              </a:rPr>
              <a:t>end soak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00600" y="5138928"/>
            <a:ext cx="3703320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5522976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9414C"/>
                </a:solidFill>
                <a:latin typeface="Arial"/>
              </a:rPr>
              <a:t>On the short passes p95 sat at 600–800 ms while rule evaluation averaged 53–57 ms — so the latency was never in the rule engine. Under soak both curves climbed together, which is what CPU contention looks like, not a missing index.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32520" y="3145536"/>
            <a:ext cx="2907792" cy="2999232"/>
          </a:xfrm>
          <a:prstGeom prst="roundRect">
            <a:avLst>
              <a:gd name="adj" fmla="val 1886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732520" y="3145536"/>
            <a:ext cx="2907792" cy="45720"/>
          </a:xfrm>
          <a:prstGeom prst="rect">
            <a:avLst/>
          </a:prstGeom>
          <a:solidFill>
            <a:srgbClr val="730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33688" y="331012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730014"/>
                </a:solidFill>
                <a:latin typeface="Arial"/>
              </a:rPr>
              <a:t>THE BLOCKER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33688" y="3529584"/>
            <a:ext cx="25603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Moving MySQL to its own VM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33688" y="3968496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C8695"/>
                </a:solidFill>
                <a:latin typeface="Arial"/>
              </a:rPr>
              <a:t>The soak said co-location was the cost. The fix would not connect: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33688" y="444398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9414C"/>
                </a:solidFill>
                <a:latin typeface="Arial"/>
              </a:rPr>
              <a:t>Windows → Linux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27080" y="4443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7A3D"/>
                </a:solidFill>
                <a:latin typeface="Arial"/>
              </a:rPr>
              <a:t>works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33688" y="468172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9414C"/>
                </a:solidFill>
                <a:latin typeface="Arial"/>
              </a:rPr>
              <a:t>Linux A → Linux 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27080" y="468172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41E3A"/>
                </a:solidFill>
                <a:latin typeface="Arial"/>
              </a:rPr>
              <a:t>fails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33688" y="491947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9414C"/>
                </a:solidFill>
                <a:latin typeface="Arial"/>
              </a:rPr>
              <a:t>nc listener ← Windows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27080" y="49194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7A3D"/>
                </a:solidFill>
                <a:latin typeface="Arial"/>
              </a:rPr>
              <a:t>works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33688" y="5157216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9414C"/>
                </a:solidFill>
                <a:latin typeface="Arial"/>
              </a:rPr>
              <a:t>nc listener ← Linux 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27080" y="515721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41E3A"/>
                </a:solidFill>
                <a:latin typeface="Arial"/>
              </a:rPr>
              <a:t>fails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5431536"/>
            <a:ext cx="2542032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933688" y="5559551"/>
            <a:ext cx="257860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Plain nc fails the same way, so this is a security-group or routing rule — not Spring, not Docker.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6391656"/>
            <a:ext cx="11094415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647395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AGILE-ish  ·  Transaction Monitoring &amp; Alerts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58400" y="6473952"/>
            <a:ext cx="15819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023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41E3A"/>
                </a:solidFill>
                <a:latin typeface="Arial"/>
              </a:rPr>
              <a:t>FUTURE SCOPES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4181D"/>
                </a:solidFill>
                <a:latin typeface="Arial"/>
              </a:rPr>
              <a:t>The seams are in place — here is what goes through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051560" cy="34747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C8695"/>
                </a:solidFill>
                <a:latin typeface="Arial"/>
              </a:rPr>
              <a:t>Every item below is a deployment change, not a rewrite. The interfaces on the architecture slide were designed for this.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1E3A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755648"/>
            <a:ext cx="6309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MySQL on its own 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11679"/>
            <a:ext cx="63093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Clear the Linux-to-Linux security-group rule the soak exposed, move the database off the app box, and re-run the 140 VU soak to publish the before-and-after.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42615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1E3A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60903"/>
            <a:ext cx="6309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Async queue between ingest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16935"/>
            <a:ext cx="63093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Accept the transaction, answer 201, and evaluate from a queue — detection leaves the request path, so p95 stays flat as volume grows.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4787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1E3A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566160"/>
            <a:ext cx="6309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Rule engine as its own deployable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822191"/>
            <a:ext cx="63093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The rule package already sits behind one interface. Extract it, run N workers against the queue, and scale detection independently of the API.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531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1E3A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471416"/>
            <a:ext cx="6309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API keys for ingest 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727448"/>
            <a:ext cx="63093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Issue a key per bank and merchant feed so /api/v1/transactions authenticates its callers — soft tenancy gets a hard edge.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583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1E3A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376672"/>
            <a:ext cx="6309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Hardening for real 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632704"/>
            <a:ext cx="63093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TLS end to end, masking of account and payee fields in the UI, and credentials out of source into a secrets manager.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1737360"/>
            <a:ext cx="4005072" cy="4315968"/>
          </a:xfrm>
          <a:prstGeom prst="roundRect">
            <a:avLst>
              <a:gd name="adj" fmla="val 1369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36408" y="1865376"/>
            <a:ext cx="36027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spc="120">
                <a:solidFill>
                  <a:srgbClr val="730014"/>
                </a:solidFill>
                <a:latin typeface="Arial"/>
              </a:rPr>
              <a:t>TARGET SHAPE  ·  FROM THE ARCHITECTURE SLIDE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2157984"/>
            <a:ext cx="3547872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Spring Boot API  ·  :8081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7C8695"/>
                </a:solidFill>
                <a:latin typeface="Arial"/>
              </a:rPr>
              <a:t>accepts, persists, answers 201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637776" y="2761488"/>
            <a:ext cx="0" cy="182880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863840" y="2962656"/>
            <a:ext cx="3547872" cy="585216"/>
          </a:xfrm>
          <a:prstGeom prst="roundRect">
            <a:avLst>
              <a:gd name="adj" fmla="val 9375"/>
            </a:avLst>
          </a:prstGeom>
          <a:solidFill>
            <a:srgbClr val="730014"/>
          </a:solidFill>
          <a:ln w="9525">
            <a:solidFill>
              <a:srgbClr val="7300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MESSAGE QUEUE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F2D6DB"/>
                </a:solidFill>
                <a:latin typeface="Arial"/>
              </a:rPr>
              <a:t>ingest decoupled from detection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637776" y="3566160"/>
            <a:ext cx="0" cy="182879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863840" y="3767328"/>
            <a:ext cx="3547872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C4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41E3A"/>
                </a:solidFill>
                <a:latin typeface="Arial"/>
              </a:rPr>
              <a:t>Rule workers  ×  N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7C8695"/>
                </a:solidFill>
                <a:latin typeface="Arial"/>
              </a:rPr>
              <a:t>extracted RuleEngine, scaled horizontally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637776" y="4370832"/>
            <a:ext cx="0" cy="182880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863840" y="4572000"/>
            <a:ext cx="3547872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MySQL 8  ·  own VM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7C8695"/>
                </a:solidFill>
                <a:latin typeface="Arial"/>
              </a:rPr>
              <a:t>co-location contention gone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5394959"/>
            <a:ext cx="35478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Same Rule interface as today — extraction is the seam highlighted on the architecture slide, and the monolith keeps an internal alert-creation endpoint.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391656"/>
            <a:ext cx="11094415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AGILE-ish  ·  Transaction Monitoring &amp; Alerts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473952"/>
            <a:ext cx="15819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80960" y="0"/>
            <a:ext cx="4510735" cy="6858000"/>
          </a:xfrm>
          <a:prstGeom prst="rect">
            <a:avLst/>
          </a:prstGeom>
          <a:solidFill>
            <a:srgbClr val="730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10378440" y="4846320"/>
            <a:ext cx="68580" cy="68580"/>
          </a:xfrm>
          <a:prstGeom prst="diamond">
            <a:avLst/>
          </a:prstGeom>
          <a:solidFill>
            <a:srgbClr val="C41E3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0689336" y="4846320"/>
            <a:ext cx="68580" cy="68580"/>
          </a:xfrm>
          <a:prstGeom prst="diamond">
            <a:avLst/>
          </a:prstGeom>
          <a:solidFill>
            <a:srgbClr val="C41E3A">
              <a:alpha val="2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11000232" y="4846320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311128" y="4846320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0533888" y="5001768"/>
            <a:ext cx="68580" cy="68580"/>
          </a:xfrm>
          <a:prstGeom prst="diamond">
            <a:avLst/>
          </a:prstGeom>
          <a:solidFill>
            <a:srgbClr val="C41E3A">
              <a:alpha val="2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10844784" y="5001768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11155680" y="5001768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11466576" y="5001768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iamond 10"/>
          <p:cNvSpPr/>
          <p:nvPr/>
        </p:nvSpPr>
        <p:spPr>
          <a:xfrm>
            <a:off x="10378440" y="5157216"/>
            <a:ext cx="68580" cy="68580"/>
          </a:xfrm>
          <a:prstGeom prst="diamond">
            <a:avLst/>
          </a:prstGeom>
          <a:solidFill>
            <a:srgbClr val="C41E3A">
              <a:alpha val="2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10689336" y="5157216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11000232" y="5157216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1311128" y="5157216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0533888" y="5312664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0844784" y="5312664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1155680" y="5312664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1466576" y="5312664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10378440" y="5468112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10689336" y="5468112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000232" y="5468112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1311128" y="5468112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0533888" y="5623560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10844784" y="5623560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11155680" y="5623560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11466576" y="562356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10378440" y="5779008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10689336" y="5779008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11000232" y="5779008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11311128" y="5779008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10533888" y="5934456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44784" y="5934456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11155680" y="5934456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11466576" y="5934456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10378440" y="6089904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689336" y="6089904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11000232" y="6089904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11311128" y="6089904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10533888" y="6245352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844784" y="6245352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1155680" y="6245352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11466576" y="6245352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10378440" y="6400800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10689336" y="640080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11000232" y="640080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1311128" y="640080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80960" y="0"/>
            <a:ext cx="50292" cy="685800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02336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41E3A"/>
                </a:solidFill>
                <a:latin typeface="Arial"/>
              </a:rPr>
              <a:t>HOW WE WORKED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008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4181D"/>
                </a:solidFill>
                <a:latin typeface="Arial"/>
              </a:rPr>
              <a:t>Agile, with receipts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1133856"/>
            <a:ext cx="1051560" cy="34747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1490472"/>
            <a:ext cx="50292" cy="18288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9808" y="1444752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MVP before anything clever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" y="1700784"/>
            <a:ext cx="66294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Transactions, then the synchronous Amount rule, then the full alert lifecycle, then the UI. The other three rules waited until that path worked end to end.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2450591"/>
            <a:ext cx="50292" cy="18288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808" y="2404872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Two sprints, daily stand-ups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" y="2660904"/>
            <a:ext cx="66294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29 July to 11 August 2026. The stand-up log and three retrospectives are checked into docs/ alongside the code.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3410711"/>
            <a:ext cx="50292" cy="18288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9808" y="3364991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Kanban with a WIP limit of one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8" y="3621024"/>
            <a:ext cx="66294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A card moves to Review when the PR opens and to Done on merge plus a milestone tick — so status is never a guess.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4370831"/>
            <a:ext cx="50292" cy="18288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9808" y="4325112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Plans written before code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8" y="4581144"/>
            <a:ext cx="66294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Thirteen short design notes in .cursor/plans/, one per non-trivial feature.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5330951"/>
            <a:ext cx="50292" cy="18288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5285231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Test-first on the risky parts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9808" y="5541264"/>
            <a:ext cx="66294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A failing test before every rule and every illegal lifecycle transition — 89 unit tests across 17 classes, contract published at /swagger-ui.html.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83879" y="214884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83879" y="2889504"/>
            <a:ext cx="1371600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83879" y="3127248"/>
            <a:ext cx="361188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2D6DB"/>
                </a:solidFill>
                <a:latin typeface="Arial"/>
              </a:rPr>
              <a:t>Happy to go deeper on the architecture, the k6 numbers, or the firewall finding.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83879" y="420624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D892A0"/>
                </a:solidFill>
                <a:latin typeface="Arial"/>
              </a:rPr>
              <a:t>TEAM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83879" y="4425696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AGILE-ish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83879" y="4901184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Shreya  ·  Sathwik  ·  Rameez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83879" y="5285232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892A0"/>
                </a:solidFill>
                <a:latin typeface="Arial"/>
              </a:rPr>
              <a:t>room107_Agileish  ·  branch dev</a:t>
            </a:r>
          </a:p>
        </p:txBody>
      </p:sp>
      <p:pic>
        <p:nvPicPr>
          <p:cNvPr id="73" name="Picture 72" descr="hs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79" y="6108192"/>
            <a:ext cx="1040384" cy="36576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548640" y="6391656"/>
            <a:ext cx="6876288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8640" y="647395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AGILE-ish  ·  Transaction Monitoring &amp; Alerts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61888" y="647395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Transaction Monitoring &amp; Alerts</dc:title>
  <dc:subject>Client review — August 2026</dc:subject>
  <dc:creator>Team AGILE-ish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