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73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977639" y="731520"/>
            <a:ext cx="256032" cy="256032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977639" y="1371600"/>
            <a:ext cx="256032" cy="256032"/>
          </a:xfrm>
          <a:prstGeom prst="diamond">
            <a:avLst/>
          </a:prstGeom>
          <a:solidFill>
            <a:srgbClr val="9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3977639" y="2011680"/>
            <a:ext cx="256032" cy="256032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3977639" y="2651760"/>
            <a:ext cx="256032" cy="256032"/>
          </a:xfrm>
          <a:prstGeom prst="diamond">
            <a:avLst/>
          </a:prstGeom>
          <a:solidFill>
            <a:srgbClr val="9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977639" y="3291840"/>
            <a:ext cx="256032" cy="256032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3977639" y="3931920"/>
            <a:ext cx="256032" cy="256032"/>
          </a:xfrm>
          <a:prstGeom prst="diamond">
            <a:avLst/>
          </a:prstGeom>
          <a:solidFill>
            <a:srgbClr val="9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3977639" y="4572000"/>
            <a:ext cx="256032" cy="256032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3977639" y="5212080"/>
            <a:ext cx="256032" cy="256032"/>
          </a:xfrm>
          <a:prstGeom prst="diamond">
            <a:avLst/>
          </a:prstGeom>
          <a:solidFill>
            <a:srgbClr val="9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029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TRANSACTION
MONITORING
&amp;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Presented by Team: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RunTime_Rebels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983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Team Members:
shreya  ·  sathwik  ·  Rameez</a:t>
            </a:r>
          </a:p>
        </p:txBody>
      </p:sp>
      <p:pic>
        <p:nvPicPr>
          <p:cNvPr id="16" name="Picture 15" descr="hs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1170432" cy="411480"/>
          </a:xfrm>
          <a:prstGeom prst="rect">
            <a:avLst/>
          </a:prstGeom>
        </p:spPr>
      </p:pic>
      <p:pic>
        <p:nvPicPr>
          <p:cNvPr id="17" name="Picture 16" descr="how_we_l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45920"/>
            <a:ext cx="2364509" cy="2926080"/>
          </a:xfrm>
          <a:prstGeom prst="rect">
            <a:avLst/>
          </a:prstGeom>
        </p:spPr>
      </p:pic>
      <p:pic>
        <p:nvPicPr>
          <p:cNvPr id="18" name="Picture 17" descr="plaz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822960"/>
            <a:ext cx="3474720" cy="5029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5488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0014"/>
                </a:solidFill>
                <a:latin typeface="Arial"/>
              </a:rPr>
              <a:t>Detect  →  Alert  →  Investigate  →  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B2B2B"/>
                </a:solidFill>
                <a:latin typeface="Arial"/>
              </a:rPr>
              <a:t>The Problem &amp;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1E3A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Arial"/>
              </a:rPr>
              <a:t>High-volume payment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Banks and merchants push transactions continuously. Risk must be spotted as money moves — not hours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Arial"/>
              </a:rPr>
              <a:t>Manual triage does not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52927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Without automated rules, operators miss velocity spikes, new payees, and daily-limit breaches.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Arial"/>
              </a:rPr>
              <a:t>Need a full alert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04487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Detection alone is not enough — OPEN → ACKNOWLEDGED → INVESTIGATING → CLOSED / DISMISSED with a clear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1E3A"/>
                </a:solidFill>
                <a:latin typeface="Arial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Arial"/>
              </a:rPr>
              <a:t>One operator dashboard — ingest simulated bank &amp; merchant feeds, evaluate four rules synchronously, and triage alerts end-to-end.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5120640" cy="105156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42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Arial"/>
              </a:rPr>
              <a:t>Four detection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Amount · Velocity · New Payee · Daily Limit — configurable in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5120640" cy="105156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30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Arial"/>
              </a:rPr>
              <a:t>Soft multi-source tenancy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sourceType / sourceId / sourceName on every row — one DB, many feeds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5120640" cy="105156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919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Arial"/>
              </a:rPr>
              <a:t>Proven under 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57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k6 Pass 1–3 documented — indexes verified, bottleneck identified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B2B"/>
                </a:solidFill>
                <a:latin typeface="Arial"/>
              </a:rPr>
              <a:t>TECHNICAL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Modular monolith on branch  dev  — clean packages; rule engine extractable later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188720"/>
            <a:ext cx="3566160" cy="1691640"/>
          </a:xfrm>
          <a:prstGeom prst="chevron">
            <a:avLst/>
          </a:prstGeom>
          <a:solidFill>
            <a:srgbClr val="73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FRONTEND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React · Vite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Dark Obsidian UI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:8082 nginx</a:t>
            </a:r>
          </a:p>
        </p:txBody>
      </p:sp>
      <p:sp>
        <p:nvSpPr>
          <p:cNvPr id="6" name="Chevron 5"/>
          <p:cNvSpPr/>
          <p:nvPr/>
        </p:nvSpPr>
        <p:spPr>
          <a:xfrm>
            <a:off x="4114800" y="1188720"/>
            <a:ext cx="3566160" cy="1691640"/>
          </a:xfrm>
          <a:prstGeom prst="chevron">
            <a:avLst/>
          </a:prstGeom>
          <a:solidFill>
            <a:srgbClr val="73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BACKEND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Spring Boot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Txn · Rule · Alert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:8081 REST</a:t>
            </a:r>
          </a:p>
        </p:txBody>
      </p:sp>
      <p:sp>
        <p:nvSpPr>
          <p:cNvPr id="7" name="Chevron 6"/>
          <p:cNvSpPr/>
          <p:nvPr/>
        </p:nvSpPr>
        <p:spPr>
          <a:xfrm>
            <a:off x="7863840" y="1188720"/>
            <a:ext cx="3566160" cy="1691640"/>
          </a:xfrm>
          <a:prstGeom prst="chevron">
            <a:avLst/>
          </a:prstGeom>
          <a:solidFill>
            <a:srgbClr val="73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DATABASE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MySQL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Flyway migrations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Soft tenancy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1E3A"/>
                </a:solidFill>
                <a:latin typeface="Arial"/>
              </a:rPr>
              <a:t>REST APIs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1E3A"/>
                </a:solidFill>
                <a:latin typeface="Arial"/>
              </a:rPr>
              <a:t>Persistence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337560"/>
            <a:ext cx="7498079" cy="1417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30014"/>
                </a:solidFill>
                <a:latin typeface="Arial"/>
              </a:rPr>
              <a:t>Request path (MVP MTTD) — evaluate in the same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Arial"/>
              </a:rPr>
              <a:t>POST /transactions  →  persist txn  →  RuleEngine.evaluate()  →  if match: create OPEN alert(s)  →  201 Created
Packages: api · transaction · rule · alert · common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337560"/>
            <a:ext cx="3566160" cy="1417320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30014"/>
                </a:solidFill>
                <a:latin typeface="Arial"/>
              </a:rPr>
              <a:t>DevOps &amp;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94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Arial"/>
              </a:rPr>
              <a:t>Docker Compose · Jenkins
Swagger / OpenAPI · k6
Actuator  rule.evaluate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Arial"/>
              </a:rPr>
              <a:t>Data model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303520"/>
            <a:ext cx="274320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30014"/>
                </a:solidFill>
                <a:latin typeface="Arial"/>
              </a:rPr>
              <a:t>Soft tenancy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06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source_* on every row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5303520"/>
            <a:ext cx="274320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30014"/>
                </a:solidFill>
                <a:latin typeface="Arial"/>
              </a:rPr>
              <a:t>No Account/Payee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806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IDs + names on txn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303520"/>
            <a:ext cx="274320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30014"/>
                </a:solidFill>
                <a:latin typeface="Arial"/>
              </a:rPr>
              <a:t>alert_transactions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806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junction for links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303520"/>
            <a:ext cx="274320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30014"/>
                </a:solidFill>
                <a:latin typeface="Arial"/>
              </a:rPr>
              <a:t>KPIs = aggregations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5806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not stored columns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Arial"/>
              </a:rPr>
              <a:t>Performance Evidence &amp; Ops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k6 (Windows) → Linux API  :8081   ·   JVM + MySQL co-located (~2 vCPU / 3.7 GiB)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65760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109728" cy="155448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5A5A"/>
                </a:solidFill>
                <a:latin typeface="Arial"/>
              </a:rPr>
              <a:t>Pass 1 — Write ramp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Arial"/>
              </a:rPr>
              <a:t>234 RPS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p95 763 ms
0% 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51560"/>
            <a:ext cx="365760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51560"/>
            <a:ext cx="109728" cy="1554480"/>
          </a:xfrm>
          <a:prstGeom prst="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5A5A"/>
                </a:solidFill>
                <a:latin typeface="Arial"/>
              </a:rPr>
              <a:t>Pass 2 — Mixed 80/20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Arial"/>
              </a:rPr>
              <a:t>242 RPS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87451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p95 623 ms
0% fail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51560"/>
            <a:ext cx="365760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109728" cy="1554480"/>
          </a:xfrm>
          <a:prstGeom prst="rect">
            <a:avLst/>
          </a:prstGeom>
          <a:solidFill>
            <a:srgbClr val="B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5A5A"/>
                </a:solidFill>
                <a:latin typeface="Arial"/>
              </a:rPr>
              <a:t>Pass 3 — Soak 10m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Arial"/>
              </a:rPr>
              <a:t>214 RPS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87451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p95 1.13 s
0.09% 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788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Arial"/>
              </a:rPr>
              <a:t>p95 latency by pass (ms)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87368"/>
            <a:ext cx="1005840" cy="1104671"/>
          </a:xfrm>
          <a:prstGeom prst="rect">
            <a:avLst/>
          </a:prstGeom>
          <a:solidFill>
            <a:srgbClr val="73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19" y="3531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763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19" y="493775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5A5A"/>
                </a:solidFill>
                <a:latin typeface="Arial"/>
              </a:rPr>
              <a:t>P1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990060"/>
            <a:ext cx="1005840" cy="901979"/>
          </a:xfrm>
          <a:prstGeom prst="rect">
            <a:avLst/>
          </a:prstGeom>
          <a:solidFill>
            <a:srgbClr val="73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37340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623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93775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5A5A"/>
                </a:solidFill>
                <a:latin typeface="Arial"/>
              </a:rPr>
              <a:t>P2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256025"/>
            <a:ext cx="1005840" cy="1636014"/>
          </a:xfrm>
          <a:prstGeom prst="rect">
            <a:avLst/>
          </a:prstGeom>
          <a:solidFill>
            <a:srgbClr val="B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79" y="299999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1130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493775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5A5A"/>
                </a:solidFill>
                <a:latin typeface="Arial"/>
              </a:rPr>
              <a:t>P3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Arial"/>
              </a:rPr>
              <a:t>rule.evaluate mean (ms)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4281351"/>
            <a:ext cx="777240" cy="6106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025319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93775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Arial"/>
              </a:rPr>
              <a:t>P1–P2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81627"/>
            <a:ext cx="777240" cy="101041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625595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93775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Arial"/>
              </a:rPr>
              <a:t>Mid soak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3493007"/>
            <a:ext cx="777240" cy="1399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3236975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126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93775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5A5A"/>
                </a:solidFill>
                <a:latin typeface="Arial"/>
              </a:rPr>
              <a:t>End soak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2788920"/>
            <a:ext cx="3566160" cy="3566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0014"/>
                </a:solidFill>
                <a:latin typeface="Arial"/>
              </a:rPr>
              <a:t>Phase 3 blocker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291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Planned: MySQL on a separate VM after soak showed co-location contention.
Blocked: Linux → Linux TCP failed — even plain nc. Windows → Linux worked (curl + nc).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7548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Inference: security group / firewall / routing — not an app bug.
Indexes OK (EXPLAIN). Bottleneck = shared box. Next: unblock network → split DB → async queue → re-soak.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B2B2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Questions welcome — architecture, k6 numbers, or the firewall finding.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30014"/>
                </a:solidFill>
                <a:latin typeface="Arial"/>
              </a:rPr>
              <a:t>How we worked (Agile)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Arial"/>
              </a:rPr>
              <a:t>•  MVP-first build order — Phase 2 rules only after E2E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Arial"/>
              </a:rPr>
              <a:t>•  Role split (A/B/C) with shared API contracts before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Arial"/>
              </a:rPr>
              <a:t>•  Kanban + honest milestones · stand-ups · retros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Arial"/>
              </a:rPr>
              <a:t>•  TDD on rules &amp; alert transitions · evidence over vibes (k6 + EXPLAIN)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0014"/>
                </a:solidFill>
                <a:latin typeface="Arial"/>
              </a:rPr>
              <a:t>If we had more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Arial"/>
              </a:rPr>
              <a:t>Unblock Linux↔Linux → MySQL on own VM → async queue + rule workers → re-run Pass 3 soak → finish simulator polish &amp; hardening.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30014"/>
                </a:solidFill>
                <a:latin typeface="Arial"/>
              </a:rPr>
              <a:t>RunTime_Rebels  ·  shreya  ·  sathwik  ·  Rameez</a:t>
            </a:r>
          </a:p>
        </p:txBody>
      </p:sp>
      <p:pic>
        <p:nvPicPr>
          <p:cNvPr id="14" name="Picture 13" descr="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365760"/>
            <a:ext cx="3931920" cy="6126480"/>
          </a:xfrm>
          <a:prstGeom prst="rect">
            <a:avLst/>
          </a:prstGeom>
        </p:spPr>
      </p:pic>
      <p:sp>
        <p:nvSpPr>
          <p:cNvPr id="15" name="Right Triangle 14"/>
          <p:cNvSpPr/>
          <p:nvPr/>
        </p:nvSpPr>
        <p:spPr>
          <a:xfrm rot="10800000">
            <a:off x="7589520" y="0"/>
            <a:ext cx="411480" cy="6858000"/>
          </a:xfrm>
          <a:prstGeom prst="rtTriangle">
            <a:avLst/>
          </a:prstGeom>
          <a:solidFill>
            <a:srgbClr val="73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