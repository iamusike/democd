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26280" cy="685800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3154680" y="4114800"/>
            <a:ext cx="68580" cy="68580"/>
          </a:xfrm>
          <a:prstGeom prst="diamond">
            <a:avLst/>
          </a:prstGeom>
          <a:solidFill>
            <a:srgbClr val="C41E3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3465576" y="4114800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3776472" y="4114800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087368" y="411480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3310128" y="4270248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3621024" y="4270248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3931920" y="427024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4242816" y="427024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3154680" y="4425696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465576" y="4425696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3776472" y="4425696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087368" y="442569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3310128" y="4581144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21024" y="4581144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3931920" y="458114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4242816" y="458114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3154680" y="4736592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465576" y="4736592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776472" y="4736592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4087368" y="473659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310128" y="489204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621024" y="4892040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3931920" y="489204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4242816" y="489204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154680" y="504748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465576" y="504748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3776472" y="5047488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087368" y="504748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3310128" y="520293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3621024" y="5202936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3931920" y="520293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4242816" y="520293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3154680" y="535838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3465576" y="535838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3776472" y="535838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4087368" y="535838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3310128" y="551383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3621024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3931920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4242816" y="551383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3154680" y="566928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3465576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3776472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4087368" y="566928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3310128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3621024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3931920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iamond 49"/>
          <p:cNvSpPr/>
          <p:nvPr/>
        </p:nvSpPr>
        <p:spPr>
          <a:xfrm>
            <a:off x="4242816" y="582472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26280" y="0"/>
            <a:ext cx="50292" cy="685800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6692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E8A6B2"/>
                </a:solidFill>
                <a:latin typeface="Arial"/>
              </a:rPr>
              <a:t>CLIENT REVIEW  ·  AUGUST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60120"/>
            <a:ext cx="36576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TRANSACTION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MONITORING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&amp; ALERTS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2697480"/>
            <a:ext cx="1371600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926080"/>
            <a:ext cx="3520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Catch the risky payment while it is still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in flight — then give one operator 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D6DB"/>
                </a:solidFill>
                <a:latin typeface="Arial"/>
              </a:rPr>
              <a:t>clear path to close it.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PRESENTED BY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4718304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Agilish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2852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TEAM MEMBERS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50468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shreya  ·  sathwik  ·  Rameez</a:t>
            </a:r>
          </a:p>
        </p:txBody>
      </p:sp>
      <p:pic>
        <p:nvPicPr>
          <p:cNvPr id="60" name="Picture 59" descr="hs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08192"/>
            <a:ext cx="1040384" cy="365760"/>
          </a:xfrm>
          <a:prstGeom prst="rect">
            <a:avLst/>
          </a:prstGeom>
        </p:spPr>
      </p:pic>
      <p:pic>
        <p:nvPicPr>
          <p:cNvPr id="61" name="Picture 60" descr="pla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62" name="Picture 61" descr="how_we_l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656" y="1874519"/>
            <a:ext cx="1859604" cy="16916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074920" y="4160520"/>
            <a:ext cx="2606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41E3A"/>
                </a:solidFill>
                <a:latin typeface="Arial"/>
              </a:rPr>
              <a:t>THE OPERATOR LOOP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74920" y="4462272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85232" y="444398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Ingest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74920" y="4764024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85232" y="47457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Evaluate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5065776"/>
            <a:ext cx="68580" cy="14630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2" y="504748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81D"/>
                </a:solidFill>
                <a:latin typeface="Arial"/>
              </a:rPr>
              <a:t>Alert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74920" y="5367528"/>
            <a:ext cx="68580" cy="146304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85232" y="534924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Investigate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4920" y="5669280"/>
            <a:ext cx="68580" cy="146304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85232" y="565099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Close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Payments do not wait for a night-time batch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Banks and merchants push transactions continuously. Risk has to surface while the money is moving.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What makes it hard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969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57984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Volume never pauses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432303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Two simulated feeds plus a load harness can push hundreds of transactions a second into one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382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82112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Manual triage does not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56432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Amount spikes are the easy case. Velocity bursts, first-time payees and creeping daily totals hide in the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7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41E3A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06240"/>
            <a:ext cx="4343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81D"/>
                </a:solidFill>
                <a:latin typeface="Arial"/>
              </a:rPr>
              <a:t>Detection alone is not an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480560"/>
            <a:ext cx="4343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C8695"/>
                </a:solidFill>
                <a:latin typeface="Arial"/>
              </a:rPr>
              <a:t>An operator needs one queue, one audit trail, and a status that cannot be skipped or reversed by accident.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55648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What we delivered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066543"/>
            <a:ext cx="5285232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One Spring Boot deployable and one operator dashboard: ingest, evaluate against four rules in the same request, then work the alert to a close.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9806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79806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292608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Four rules, live-configurable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1821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Thresholds are edited in the UI and stored in the database — no redeploy.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362102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62102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374903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Soft multi-source tenancy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40050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One schema; every row carries source_type, source_id and source_name.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443984"/>
            <a:ext cx="5285232" cy="731520"/>
          </a:xfrm>
          <a:prstGeom prst="roundRect">
            <a:avLst>
              <a:gd name="adj" fmla="val 7500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443984"/>
            <a:ext cx="50292" cy="73152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457200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Measured, not assumed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48280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Three k6 passes, EXPLAIN on every hot query, timers on the engine itself.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58384"/>
            <a:ext cx="11094415" cy="868680"/>
          </a:xfrm>
          <a:prstGeom prst="roundRect">
            <a:avLst>
              <a:gd name="adj" fmla="val 631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detection rules, all runtime-configurable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2243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8275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8275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alert states with validated transitions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5847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1879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1879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REST endpoints under /api/v1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451" y="5504688"/>
            <a:ext cx="7315" cy="576071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25483" y="5504688"/>
            <a:ext cx="23164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730014"/>
                </a:solidFill>
                <a:latin typeface="Arial"/>
              </a:rPr>
              <a:t>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483" y="5907024"/>
            <a:ext cx="240784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unit tests across 17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Agilish  ·  Transaction Monitoring &amp; Alerts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A modular monolith with one seam that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One deployable, clean package boundaries — and a rule engine kept behind an interface so it can leave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00784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C8695"/>
                </a:solidFill>
                <a:latin typeface="Arial"/>
              </a:rPr>
              <a:t>CLIENTS &amp; FEEDS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10312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Operator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35000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Loads the dashboard,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drives the alert lifecycle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10896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Feed simulators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35584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Go service, scenario packs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POST /api/v1/transactions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1965960" cy="86868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4114800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k6 load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4361688"/>
            <a:ext cx="17099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Ramp, mixed and soak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profiles up to 200 VUs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810512"/>
            <a:ext cx="5422392" cy="3127248"/>
          </a:xfrm>
          <a:prstGeom prst="roundRect">
            <a:avLst>
              <a:gd name="adj" fmla="val 1754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920240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30014"/>
                </a:solidFill>
                <a:latin typeface="Arial"/>
              </a:rPr>
              <a:t>APPLICATION VM  ·  DOCKER 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212848"/>
            <a:ext cx="5093207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nginx  +  React 19 SPA   ·   :8082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2944368"/>
            <a:ext cx="5093207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9312" y="305409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30014"/>
                </a:solidFill>
                <a:latin typeface="Arial"/>
              </a:rPr>
              <a:t>SPRING BOOT 3.4.4  ·  JAVA 21  ·  :8081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9312" y="3328416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67328" y="3429000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7328" y="3639312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controllers + DTOs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1908" y="3328416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9924" y="3429000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transaction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9924" y="3639312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record, query, filters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39312" y="3986784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4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4087368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4297680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RuleEngine + 4 rules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1908" y="3986784"/>
            <a:ext cx="2281427" cy="566928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9924" y="4087368"/>
            <a:ext cx="202539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alert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9924" y="4297680"/>
            <a:ext cx="20619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lifecycle + transitions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9312" y="4590288"/>
            <a:ext cx="356158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1E3A"/>
                </a:solidFill>
                <a:latin typeface="Arial"/>
              </a:rPr>
              <a:t>extractable later — same interface, new deployable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1700784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7C8695"/>
                </a:solidFill>
                <a:latin typeface="Arial"/>
              </a:rPr>
              <a:t>DATA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965960"/>
            <a:ext cx="2542032" cy="178308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44584" y="210312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MySQL 8  ·  :3306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44584" y="2340864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reached over JPA + HikariCP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44584" y="2665476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6151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transactions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4584" y="2912364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0888" y="28620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alerts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44584" y="3159252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90888" y="31089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alert_transactions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44584" y="3406140"/>
            <a:ext cx="54864" cy="54864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90888" y="335584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rule_configs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8280" y="3886200"/>
            <a:ext cx="2542032" cy="1051560"/>
          </a:xfrm>
          <a:prstGeom prst="roundRect">
            <a:avLst>
              <a:gd name="adj" fmla="val 5217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44584" y="4023360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7 named indexes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4261104"/>
            <a:ext cx="226771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Account+time, account+payee and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source+time paths confirmed with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C8695"/>
                </a:solidFill>
                <a:latin typeface="Arial"/>
              </a:rPr>
              <a:t>EXPLAIN before blaming the schema.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14600" y="2400300"/>
            <a:ext cx="923544" cy="6858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14600" y="3406140"/>
            <a:ext cx="923544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14600" y="4411979"/>
            <a:ext cx="923544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33088" y="2724912"/>
            <a:ext cx="0" cy="201168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242816" y="276148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C8695"/>
                </a:solidFill>
                <a:latin typeface="Arial"/>
              </a:rPr>
              <a:t>REST /api/v1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604504" y="3291840"/>
            <a:ext cx="530351" cy="0"/>
          </a:xfrm>
          <a:prstGeom prst="line">
            <a:avLst/>
          </a:prstGeom>
          <a:ln w="15875">
            <a:solidFill>
              <a:srgbClr val="C41E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640" y="513892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41E3A"/>
                </a:solidFill>
                <a:latin typeface="Arial"/>
              </a:rPr>
              <a:t>SYNCHRONOUS DETECTION PATH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1   POST /transactions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573670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829702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2   Persist transaction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854732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110764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730014"/>
          </a:solidFill>
          <a:ln w="9525">
            <a:solidFill>
              <a:srgbClr val="7300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3   RuleEngine.evaluate()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35794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391826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4   Create OPEN alert(s)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416856" y="5632704"/>
            <a:ext cx="219456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9672888" y="5394960"/>
            <a:ext cx="1970166" cy="475488"/>
          </a:xfrm>
          <a:prstGeom prst="roundRect">
            <a:avLst>
              <a:gd name="adj" fmla="val 11538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181D"/>
                </a:solidFill>
                <a:latin typeface="Arial"/>
              </a:rPr>
              <a:t>5   201 Created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998464"/>
            <a:ext cx="110944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Detection finishes before the API answers, so time-to-detect is bounded by the request itself. No queue in this path yet — that is the deliberate next change, not a rewrite.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Agilish  ·  Transaction Monitoring &amp; 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DETECTION &amp;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Four rules, five states, one audit trail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Adding a rule type means adding one class. The engine and the Rule interface never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The rule 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21408"/>
            <a:ext cx="2606040" cy="1060704"/>
          </a:xfrm>
          <a:prstGeom prst="roundRect">
            <a:avLst>
              <a:gd name="adj" fmla="val 5172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2494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Amount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496312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Single transaction above a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986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&gt;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898648"/>
            <a:ext cx="795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C8695"/>
                </a:solidFill>
                <a:latin typeface="Arial"/>
              </a:rPr>
              <a:t>MEDIUM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21408"/>
            <a:ext cx="2606040" cy="1060704"/>
          </a:xfrm>
          <a:prstGeom prst="roundRect">
            <a:avLst>
              <a:gd name="adj" fmla="val 5172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2494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Velocity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496312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Too many transactions in a rolling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8986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&gt; 5 in 10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98648"/>
            <a:ext cx="795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C8695"/>
                </a:solidFill>
                <a:latin typeface="Arial"/>
              </a:rPr>
              <a:t>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10128"/>
            <a:ext cx="2606040" cy="1060704"/>
          </a:xfrm>
          <a:prstGeom prst="roundRect">
            <a:avLst>
              <a:gd name="adj" fmla="val 5172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3814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New Payee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685032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First time this account pays this payee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08736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0 prior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087368"/>
            <a:ext cx="795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C8695"/>
                </a:solidFill>
                <a:latin typeface="Arial"/>
              </a:rPr>
              <a:t>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3310128"/>
            <a:ext cx="2606040" cy="1060704"/>
          </a:xfrm>
          <a:prstGeom prst="roundRect">
            <a:avLst>
              <a:gd name="adj" fmla="val 5172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343814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181D"/>
                </a:solidFill>
                <a:latin typeface="Arial"/>
              </a:rPr>
              <a:t>Daily Limit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3685032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Cumulative debits for the calendar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408736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&gt; 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087368"/>
            <a:ext cx="795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C8695"/>
                </a:solidFill>
                <a:latin typeface="Arial"/>
              </a:rP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90288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Every default lives in rule_configs and is editable from the Rules screen — no redeploy to retune a threshold.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755648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30014"/>
                </a:solidFill>
                <a:latin typeface="Arial"/>
              </a:rPr>
              <a:t>Alert lifecycle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2139696"/>
            <a:ext cx="1184148" cy="457200"/>
          </a:xfrm>
          <a:prstGeom prst="roundRect">
            <a:avLst>
              <a:gd name="adj" fmla="val 12000"/>
            </a:avLst>
          </a:prstGeom>
          <a:solidFill>
            <a:srgbClr val="730014"/>
          </a:solidFill>
          <a:ln w="9525">
            <a:solidFill>
              <a:srgbClr val="7300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57516" y="2368296"/>
            <a:ext cx="137160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722108" y="2139696"/>
            <a:ext cx="1184148" cy="457200"/>
          </a:xfrm>
          <a:prstGeom prst="roundRect">
            <a:avLst>
              <a:gd name="adj" fmla="val 12000"/>
            </a:avLst>
          </a:prstGeom>
          <a:solidFill>
            <a:srgbClr val="9B0F28"/>
          </a:solidFill>
          <a:ln w="9525">
            <a:solidFill>
              <a:srgbClr val="9B0F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rial"/>
              </a:rPr>
              <a:t>ACKNOWLEDGED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24544" y="2368296"/>
            <a:ext cx="137160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089136" y="2139696"/>
            <a:ext cx="1184148" cy="457200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 w="9525">
            <a:solidFill>
              <a:srgbClr val="C41E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rial"/>
              </a:rPr>
              <a:t>INVESTIGATING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291572" y="2368296"/>
            <a:ext cx="137160" cy="0"/>
          </a:xfrm>
          <a:prstGeom prst="line">
            <a:avLst/>
          </a:prstGeom>
          <a:ln w="12700">
            <a:solidFill>
              <a:srgbClr val="7C86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456163" y="2139696"/>
            <a:ext cx="1184148" cy="457200"/>
          </a:xfrm>
          <a:prstGeom prst="roundRect">
            <a:avLst>
              <a:gd name="adj" fmla="val 12000"/>
            </a:avLst>
          </a:prstGeom>
          <a:solidFill>
            <a:srgbClr val="1B7A3D"/>
          </a:solidFill>
          <a:ln w="9525">
            <a:solidFill>
              <a:srgbClr val="1B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rial"/>
              </a:rPr>
              <a:t>CLOSED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05622" y="3054096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059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590A"/>
                </a:solidFill>
                <a:latin typeface="Arial"/>
              </a:rPr>
              <a:t>DISMISSED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14182" y="2615184"/>
            <a:ext cx="320040" cy="420624"/>
          </a:xfrm>
          <a:prstGeom prst="line">
            <a:avLst/>
          </a:prstGeom>
          <a:ln w="12700">
            <a:solidFill>
              <a:srgbClr val="B059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681209" y="2615184"/>
            <a:ext cx="205741" cy="420624"/>
          </a:xfrm>
          <a:prstGeom prst="line">
            <a:avLst/>
          </a:prstGeom>
          <a:ln w="12700">
            <a:solidFill>
              <a:srgbClr val="B059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55080" y="3639312"/>
            <a:ext cx="528523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CLOSED and DISMISSED are terminal. Anything else raises InvalidAlertTransitionException — checked in the service, not the controller.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4169663"/>
            <a:ext cx="5285232" cy="822960"/>
          </a:xfrm>
          <a:prstGeom prst="roundRect">
            <a:avLst>
              <a:gd name="adj" fmla="val 6666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4169663"/>
            <a:ext cx="50292" cy="82296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429768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81D"/>
                </a:solidFill>
                <a:latin typeface="Arial"/>
              </a:rPr>
              <a:t>When two rules fire on one transaction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453542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C8695"/>
                </a:solidFill>
                <a:latin typeface="Arial"/>
              </a:rPr>
              <a:t>One alert, both reasons listed, severity escalated to HIGH.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230368"/>
            <a:ext cx="11094415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537667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30014"/>
                </a:solidFill>
                <a:latin typeface="Arial"/>
              </a:rPr>
              <a:t>How we kept it honest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5669280"/>
            <a:ext cx="24627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C41E3A"/>
                </a:solidFill>
                <a:latin typeface="Arial"/>
              </a:rPr>
              <a:t>Test first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5870448"/>
            <a:ext cx="24444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Failing test before every rule and every illegal transition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0259" y="5669280"/>
            <a:ext cx="24627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C41E3A"/>
                </a:solidFill>
                <a:latin typeface="Arial"/>
              </a:rPr>
              <a:t>Coverage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0259" y="5870448"/>
            <a:ext cx="24444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89 unit tests across 17 classes, H2 for repository 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5847" y="5669280"/>
            <a:ext cx="24627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C41E3A"/>
                </a:solidFill>
                <a:latin typeface="Arial"/>
              </a:rPr>
              <a:t>Contract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5847" y="5870448"/>
            <a:ext cx="24444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OpenAPI published at /swagger-ui.html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41435" y="5669280"/>
            <a:ext cx="24627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C41E3A"/>
                </a:solidFill>
                <a:latin typeface="Arial"/>
              </a:rPr>
              <a:t>Pipeline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1435" y="5870448"/>
            <a:ext cx="24444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Jenkins rebuilds the whole Compose stack on push to dev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Agilish  ·  Transaction Monitoring &amp; Alerts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023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We pushed it until it hurt, then found out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C8695"/>
                </a:solidFill>
                <a:latin typeface="Arial"/>
              </a:rPr>
              <a:t>k6 from a Windows client against the Linux app VM — JVM and MySQL sharing roughly 2 vCPU and 3.7 GiB.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3539642" cy="45720"/>
          </a:xfrm>
          <a:prstGeom prst="rect">
            <a:avLst/>
          </a:prstGeom>
          <a:solidFill>
            <a:srgbClr val="1B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1  ·  WRITE RAMP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200 VUs  ·  p95 763 ms  ·  0% failed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6026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6026" y="1700784"/>
            <a:ext cx="3539642" cy="45720"/>
          </a:xfrm>
          <a:prstGeom prst="rect">
            <a:avLst/>
          </a:prstGeom>
          <a:solidFill>
            <a:srgbClr val="1B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5482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2  ·  MIXED 80/20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5482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0466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5482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150 VUs  ·  p95 623 ms  ·  0% failed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3412" y="1700784"/>
            <a:ext cx="3539642" cy="1298448"/>
          </a:xfrm>
          <a:prstGeom prst="roundRect">
            <a:avLst>
              <a:gd name="adj" fmla="val 4225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3412" y="1700784"/>
            <a:ext cx="3539642" cy="45720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2868" y="1865376"/>
            <a:ext cx="317388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spc="120">
                <a:solidFill>
                  <a:srgbClr val="7C8695"/>
                </a:solidFill>
                <a:latin typeface="Arial"/>
              </a:rPr>
              <a:t>PASS 3  ·  10-MINUTE SOAK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2868" y="2084831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81D"/>
                </a:solidFill>
                <a:latin typeface="Arial"/>
              </a:rPr>
              <a:t>214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7852" y="228600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requests/sec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2868" y="2651760"/>
            <a:ext cx="317388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9414C"/>
                </a:solidFill>
                <a:latin typeface="Arial"/>
              </a:rPr>
              <a:t>140 VUs  ·  p95 1.13 s  ·  0.09%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18688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C41E3A"/>
                </a:solidFill>
                <a:latin typeface="Arial"/>
              </a:rPr>
              <a:t>p95 LATENCY BY PASS  (ms)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197050"/>
            <a:ext cx="868680" cy="941877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199" y="395930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763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199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38528" y="4369871"/>
            <a:ext cx="868680" cy="769056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4132127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623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5648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6976" y="3744010"/>
            <a:ext cx="868680" cy="1394917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54096" y="350626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1,130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520293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Pass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38928"/>
            <a:ext cx="3977639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218688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30">
                <a:solidFill>
                  <a:srgbClr val="C41E3A"/>
                </a:solidFill>
                <a:latin typeface="Arial"/>
              </a:rPr>
              <a:t>rule.evaluate MEAN  (ms)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4535815"/>
            <a:ext cx="621792" cy="603112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45736" y="429807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45736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after P1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24727" y="4578139"/>
            <a:ext cx="621792" cy="560788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78423" y="4340395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53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78423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after P2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57416" y="4176064"/>
            <a:ext cx="621792" cy="962863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3938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mid soak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90104" y="3805732"/>
            <a:ext cx="621792" cy="1333195"/>
          </a:xfrm>
          <a:prstGeom prst="rect">
            <a:avLst/>
          </a:prstGeom>
          <a:solidFill>
            <a:srgbClr val="B0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356798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81D"/>
                </a:solidFill>
                <a:latin typeface="Arial"/>
              </a:rPr>
              <a:t>126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52029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C8695"/>
                </a:solidFill>
                <a:latin typeface="Arial"/>
              </a:rPr>
              <a:t>end soak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5138928"/>
            <a:ext cx="3703320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522976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9414C"/>
                </a:solidFill>
                <a:latin typeface="Arial"/>
              </a:rPr>
              <a:t>On the short passes p95 sat at 600–800 ms while rule evaluation averaged 53–57 ms — so the latency was never in the rule engine. Under soak both curves climbed together, which is what CPU contention looks like, not a missing index.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32520" y="3145536"/>
            <a:ext cx="2907792" cy="2999232"/>
          </a:xfrm>
          <a:prstGeom prst="roundRect">
            <a:avLst>
              <a:gd name="adj" fmla="val 1886"/>
            </a:avLst>
          </a:prstGeom>
          <a:solidFill>
            <a:srgbClr val="F4F6F8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32520" y="3145536"/>
            <a:ext cx="2907792" cy="4572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33688" y="331012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730014"/>
                </a:solidFill>
                <a:latin typeface="Arial"/>
              </a:rPr>
              <a:t>THE BLOCKER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33688" y="3529584"/>
            <a:ext cx="25603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Moving MySQL to its own VM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33688" y="396849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C8695"/>
                </a:solidFill>
                <a:latin typeface="Arial"/>
              </a:rPr>
              <a:t>The soak said co-location was the cost. The fix would not connect: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44439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Windows → Linux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27080" y="4443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7A3D"/>
                </a:solidFill>
                <a:latin typeface="Arial"/>
              </a:rPr>
              <a:t>works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33688" y="468172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Linux A → Linux 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27080" y="468172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41E3A"/>
                </a:solidFill>
                <a:latin typeface="Arial"/>
              </a:rPr>
              <a:t>fails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33688" y="4919472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nc listener ← Windows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27080" y="49194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7A3D"/>
                </a:solidFill>
                <a:latin typeface="Arial"/>
              </a:rPr>
              <a:t>works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33688" y="5157216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9414C"/>
                </a:solidFill>
                <a:latin typeface="Arial"/>
              </a:rPr>
              <a:t>nc listener ← Linux 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27080" y="515721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41E3A"/>
                </a:solidFill>
                <a:latin typeface="Arial"/>
              </a:rPr>
              <a:t>fails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431536"/>
            <a:ext cx="2542032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33688" y="5559551"/>
            <a:ext cx="25786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Plain nc fails the same way, so this is a security-group or routing rule — not Spring, not Docker.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6391656"/>
            <a:ext cx="11094415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47395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Agilish  ·  Transaction Monitoring &amp; Alerts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6473952"/>
            <a:ext cx="15819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730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10378440" y="4846320"/>
            <a:ext cx="68580" cy="68580"/>
          </a:xfrm>
          <a:prstGeom prst="diamond">
            <a:avLst/>
          </a:prstGeom>
          <a:solidFill>
            <a:srgbClr val="C41E3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0689336" y="4846320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1000232" y="4846320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311128" y="484632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533888" y="5001768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0844784" y="5001768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11155680" y="500176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11466576" y="500176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10378440" y="5157216"/>
            <a:ext cx="68580" cy="68580"/>
          </a:xfrm>
          <a:prstGeom prst="diamond">
            <a:avLst/>
          </a:prstGeom>
          <a:solidFill>
            <a:srgbClr val="C41E3A">
              <a:alpha val="2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10689336" y="5157216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11000232" y="5157216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1311128" y="515721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0533888" y="5312664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844784" y="5312664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1155680" y="531266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1466576" y="531266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10378440" y="5468112"/>
            <a:ext cx="68580" cy="68580"/>
          </a:xfrm>
          <a:prstGeom prst="diamond">
            <a:avLst/>
          </a:prstGeom>
          <a:solidFill>
            <a:srgbClr val="C41E3A">
              <a:alpha val="2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10689336" y="5468112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000232" y="5468112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1311128" y="546811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0533888" y="5623560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10844784" y="5623560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11155680" y="562356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11466576" y="562356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10378440" y="5779008"/>
            <a:ext cx="68580" cy="68580"/>
          </a:xfrm>
          <a:prstGeom prst="diamond">
            <a:avLst/>
          </a:prstGeom>
          <a:solidFill>
            <a:srgbClr val="C41E3A">
              <a:alpha val="1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10689336" y="5779008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11000232" y="5779008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11311128" y="5779008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10533888" y="5934456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44784" y="5934456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11155680" y="593445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11466576" y="5934456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10378440" y="6089904"/>
            <a:ext cx="68580" cy="68580"/>
          </a:xfrm>
          <a:prstGeom prst="diamond">
            <a:avLst/>
          </a:prstGeom>
          <a:solidFill>
            <a:srgbClr val="C41E3A">
              <a:alpha val="1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689336" y="6089904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11000232" y="608990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11311128" y="6089904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10533888" y="6245352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844784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1155680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11466576" y="6245352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10378440" y="6400800"/>
            <a:ext cx="68580" cy="68580"/>
          </a:xfrm>
          <a:prstGeom prst="diamond">
            <a:avLst/>
          </a:prstGeom>
          <a:solidFill>
            <a:srgbClr val="C41E3A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10689336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11000232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1311128" y="6400800"/>
            <a:ext cx="68580" cy="68580"/>
          </a:xfrm>
          <a:prstGeom prst="diamond">
            <a:avLst/>
          </a:prstGeom>
          <a:solidFill>
            <a:srgbClr val="C41E3A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80960" y="0"/>
            <a:ext cx="50292" cy="685800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02336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HOW WE WORKED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00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4181D"/>
                </a:solidFill>
                <a:latin typeface="Arial"/>
              </a:rPr>
              <a:t>Agile, with receipts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1133856"/>
            <a:ext cx="1051560" cy="34747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1490472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8" y="14447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MVP before anything clever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1700784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Transactions, then the synchronous Amount rule, then the full alert lifecycle, then the UI. The other three rules waited until that path worked end to end.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2423160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2377440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Two sprints, daily stand-ups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2633472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29 July to 11 August 2026. The stand-up log and three retrospectives are checked into docs/ alongside the code.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3355848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3310128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Kanban with a WIP limit of one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3566160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A card moves to Review when the PR opens and to Done on merge plus a milestone tick — so status is never a guess.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4288536"/>
            <a:ext cx="50292" cy="182880"/>
          </a:xfrm>
          <a:prstGeom prst="rect">
            <a:avLst/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8" y="4242816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81D"/>
                </a:solidFill>
                <a:latin typeface="Arial"/>
              </a:rPr>
              <a:t>Plans written before code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4498848"/>
            <a:ext cx="66294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695"/>
                </a:solidFill>
                <a:latin typeface="Arial"/>
              </a:rPr>
              <a:t>Thirteen short design notes in .cursor/plans/, one per non-trivial feature.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138928"/>
            <a:ext cx="6876288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5266944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41E3A"/>
                </a:solidFill>
                <a:latin typeface="Arial"/>
              </a:rPr>
              <a:t>WHAT WE DO NEXT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522976"/>
            <a:ext cx="274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" y="5522976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9414C"/>
                </a:solidFill>
                <a:latin typeface="Arial"/>
              </a:rPr>
              <a:t>Unblock Linux-to-Linux networking, then move MySQL onto its own host.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5788152"/>
            <a:ext cx="274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788152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9414C"/>
                </a:solidFill>
                <a:latin typeface="Arial"/>
              </a:rPr>
              <a:t>Put a queue between ingest and evaluation and scale the rule workers.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6053328"/>
            <a:ext cx="274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41E3A"/>
                </a:solidFill>
                <a:latin typeface="Arial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053328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9414C"/>
                </a:solidFill>
                <a:latin typeface="Arial"/>
              </a:rPr>
              <a:t>Re-run the 140 VU soak and publish the before-and-after side by side.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148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83879" y="2889504"/>
            <a:ext cx="1371600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83879" y="3127248"/>
            <a:ext cx="361188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2D6DB"/>
                </a:solidFill>
                <a:latin typeface="Arial"/>
              </a:rPr>
              <a:t>Happy to go deeper on the architecture, the k6 numbers, or the firewall finding.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42062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D892A0"/>
                </a:solidFill>
                <a:latin typeface="Arial"/>
              </a:rPr>
              <a:t>TEAM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442569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Agilish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4901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shreya  ·  sathwik  ·  Rameez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5285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892A0"/>
                </a:solidFill>
                <a:latin typeface="Arial"/>
              </a:rPr>
              <a:t>room107_Agileish  ·  branch dev</a:t>
            </a:r>
          </a:p>
        </p:txBody>
      </p:sp>
      <p:pic>
        <p:nvPicPr>
          <p:cNvPr id="78" name="Picture 77" descr="hs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6108192"/>
            <a:ext cx="1040384" cy="36576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548640" y="6391656"/>
            <a:ext cx="6876288" cy="10972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647395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Agilish  ·  Transaction Monitoring &amp; Alerts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1888" y="647395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C8695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Transaction Monitoring &amp; Alerts</dc:title>
  <dc:subject>Client review — August 2026</dc:subject>
  <dc:creator>Team Agilish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